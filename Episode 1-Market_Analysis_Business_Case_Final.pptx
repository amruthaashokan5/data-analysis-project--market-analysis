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media/image-ai-insight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21"/>
    <p:sldId id="271" r:id="rId2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  <Relationship Id="rId21" Type="http://schemas.openxmlformats.org/officeDocument/2006/relationships/slide" Target="slides/slide15.xml"/>
  <Relationship Id="rId22" Type="http://schemas.openxmlformats.org/officeDocument/2006/relationships/slide" Target="slides/slide16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-ai-insight.png"/><Relationship Id="rId2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32A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32A4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34440"/>
            <a:ext cx="777240" cy="77724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001" y="133548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ANALYTICS BUSINESS CASE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6974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Sports Retail Performance Analysis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Conversion, Social Engagement &amp; Customer Sentiment — powered by SQL, Python &amp; Power BI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2960" y="5989320"/>
            <a:ext cx="914400" cy="0"/>
          </a:xfrm>
          <a:prstGeom prst="line">
            <a:avLst/>
          </a:prstGeom>
          <a:noFill/>
          <a:ln/>
        </p:spPr>
      </p:sp>
      <p:sp>
        <p:nvSpPr>
          <p:cNvPr id="10" name="Text 7"/>
          <p:cNvSpPr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ShopEasy Sports  |  Data Analytics Portfolio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the Business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640080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20" y="155448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0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ShopEasy Sports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 online sports &amp; fitness equipment retailer, is facing reduced customer engagement and conversion rates despite launching several new marketing campaigns. They need a detailed analysis to identify where their marketing strategy is breaking down.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6012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0120" y="3739896"/>
            <a:ext cx="146304" cy="146304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3630168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interactions with site content and campaigns have declined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60120" y="4334256"/>
            <a:ext cx="146304" cy="146304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4224528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site visitors are converting into paying customers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0120" y="4928616"/>
            <a:ext cx="146304" cy="146304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4818888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 is up, but ROI isn't meeting expectations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60120" y="5522976"/>
            <a:ext cx="146304" cy="146304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5413248"/>
            <a:ext cx="5440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feedback hasn't been systematically analyzed for insight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315200" y="1234440"/>
            <a:ext cx="4206240" cy="5029200"/>
          </a:xfrm>
          <a:prstGeom prst="roundRect">
            <a:avLst>
              <a:gd name="adj" fmla="val 1739"/>
            </a:avLst>
          </a:prstGeom>
          <a:solidFill>
            <a:srgbClr val="0B1F3B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35240" y="1554480"/>
            <a:ext cx="548640" cy="54864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6563" y="1625803"/>
            <a:ext cx="405994" cy="40599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321040" y="16276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7635240" y="2331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9.57%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7635240" y="2834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conversion rate — with room to improve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635240" y="35661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9M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7635240" y="40690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content views across all products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635240" y="48006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3.69 / 5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7635240" y="5303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review rating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Request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from the Marketing Manager at ShopEasy Sports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28800"/>
            <a:ext cx="502920" cy="502920"/>
          </a:xfrm>
          <a:prstGeom prst="ellipse">
            <a:avLst/>
          </a:prstGeom>
          <a:solidFill>
            <a:srgbClr val="FDEA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500" y="189418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288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Subject: Request for Data Analysis to Improve Marketing Strategy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05840" y="2606040"/>
            <a:ext cx="10149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 Data Analyst,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been facing some challenges with our marketing campaigns lately. Despite increased investment, we've observed a decline in customer engagement and conversion rates — our marketing spend is up, but the return on investment isn't meeting expectations.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data from customer reviews, social media engagement, and campaign performance metrics. We need a comprehensive analysis to understand what's working, where customers are dropping off, and how we can turn this around.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forward to your insights.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regards,</a:t>
            </a:r>
            <a:endParaRPr lang="en-US" sz="1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 Doe, Marketing Manager — ShopEasy Sports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Indicators (KPIs)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metrics used to evaluate marketing performance throughout this analysis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685800" cy="68580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274" y="2100834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8424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Conversion Rate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60120" y="28346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of website visitors who make a purchase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11680"/>
            <a:ext cx="685800" cy="685800"/>
          </a:xfrm>
          <a:prstGeom prst="ellipse">
            <a:avLst/>
          </a:prstGeom>
          <a:solidFill>
            <a:srgbClr val="1F9D7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1394" y="2100834"/>
            <a:ext cx="507492" cy="5074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98424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Engagement Rate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492240" y="283464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of interaction with marketing content — clicks, likes, views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34340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4663440"/>
            <a:ext cx="685800" cy="68580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274" y="4752594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63600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Order Value (AOV)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960120" y="548640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amount spent by a customer per transaction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72200" y="434340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663440"/>
            <a:ext cx="685800" cy="685800"/>
          </a:xfrm>
          <a:prstGeom prst="ellipse">
            <a:avLst/>
          </a:prstGeom>
          <a:solidFill>
            <a:srgbClr val="1F9D7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394" y="4752594"/>
            <a:ext cx="507492" cy="5074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63600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Feedback Score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6492240" y="548640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star rating from customer reviews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Goals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goals shaped the entire analysis, from data cleaning to dashboard design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32A4F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176272"/>
            <a:ext cx="713232" cy="713232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840" y="2268992"/>
            <a:ext cx="527792" cy="5277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69680" y="1965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0" b="1" dirty="0">
                <a:solidFill>
                  <a:srgbClr val="2339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1874520" y="20116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Increase Conversion Rates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874520" y="245059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where visitors drop off in the funnel and recommend ways to optimize conversion.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34290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32A4F"/>
          </a:solidFill>
          <a:ln/>
        </p:spPr>
      </p:sp>
      <p:sp>
        <p:nvSpPr>
          <p:cNvPr id="11" name="Shape 8"/>
          <p:cNvSpPr/>
          <p:nvPr/>
        </p:nvSpPr>
        <p:spPr>
          <a:xfrm>
            <a:off x="960120" y="3776472"/>
            <a:ext cx="713232" cy="713232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840" y="3869192"/>
            <a:ext cx="527792" cy="5277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869680" y="3566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0" b="1" dirty="0">
                <a:solidFill>
                  <a:srgbClr val="2339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5000" dirty="0"/>
          </a:p>
        </p:txBody>
      </p:sp>
      <p:sp>
        <p:nvSpPr>
          <p:cNvPr id="14" name="Text 10"/>
          <p:cNvSpPr/>
          <p:nvPr/>
        </p:nvSpPr>
        <p:spPr>
          <a:xfrm>
            <a:off x="1874520" y="36118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Enhance Customer Engagement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1874520" y="405079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which content types (blog, social, video) drive the highest engagement.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40080" y="50292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32A4F"/>
          </a:solidFill>
          <a:ln/>
        </p:spPr>
      </p:sp>
      <p:sp>
        <p:nvSpPr>
          <p:cNvPr id="17" name="Shape 13"/>
          <p:cNvSpPr/>
          <p:nvPr/>
        </p:nvSpPr>
        <p:spPr>
          <a:xfrm>
            <a:off x="960120" y="5376672"/>
            <a:ext cx="713232" cy="713232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840" y="5469392"/>
            <a:ext cx="527792" cy="5277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69680" y="51663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0" b="1" dirty="0">
                <a:solidFill>
                  <a:srgbClr val="2339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000" dirty="0"/>
          </a:p>
        </p:txBody>
      </p:sp>
      <p:sp>
        <p:nvSpPr>
          <p:cNvPr id="20" name="Text 15"/>
          <p:cNvSpPr/>
          <p:nvPr/>
        </p:nvSpPr>
        <p:spPr>
          <a:xfrm>
            <a:off x="1874520" y="52120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Customer Feedback Scores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1874520" y="565099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recurring themes in reviews — positive and negative — to guide improvements.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Tools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65760" cy="36576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629" y="1693469"/>
            <a:ext cx="270662" cy="2706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6184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dim_customers + dim_geography — customer profile &amp; location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365760" cy="36576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9" y="2287829"/>
            <a:ext cx="270662" cy="2706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21284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dim_products — catalog, price, category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40080" y="2834640"/>
            <a:ext cx="365760" cy="36576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9" y="2882189"/>
            <a:ext cx="270662" cy="27066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280720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fact_customer_journey — funnel events (view, click, purchase)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29" y="3476549"/>
            <a:ext cx="270662" cy="27066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43000" y="340156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fact_engagement_data — views, clicks, likes by content type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0B1F3B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29" y="4070909"/>
            <a:ext cx="270662" cy="27066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43000" y="399592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fact_customer_reviews — ratings &amp; free-text reviews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640080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6400800" y="164592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6629400" y="1828800"/>
            <a:ext cx="685800" cy="685800"/>
          </a:xfrm>
          <a:prstGeom prst="ellipse">
            <a:avLst/>
          </a:prstGeom>
          <a:solidFill>
            <a:srgbClr val="1F9D7C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554" y="1917954"/>
            <a:ext cx="507492" cy="50749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49808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Server</a:t>
            </a:r>
            <a:endParaRPr lang="en-US" sz="1450" dirty="0"/>
          </a:p>
        </p:txBody>
      </p:sp>
      <p:sp>
        <p:nvSpPr>
          <p:cNvPr id="24" name="Text 16"/>
          <p:cNvSpPr/>
          <p:nvPr/>
        </p:nvSpPr>
        <p:spPr>
          <a:xfrm>
            <a:off x="7498080" y="2148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joins &amp; transformation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6400800" y="292608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6629400" y="3108960"/>
            <a:ext cx="685800" cy="685800"/>
          </a:xfrm>
          <a:prstGeom prst="ellipse">
            <a:avLst/>
          </a:prstGeom>
          <a:solidFill>
            <a:srgbClr val="1F9D7C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8554" y="3198114"/>
            <a:ext cx="507492" cy="50749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498080" y="3063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(pandas, NLTK, GenAI)</a:t>
            </a:r>
            <a:endParaRPr lang="en-US" sz="1450" dirty="0"/>
          </a:p>
        </p:txBody>
      </p:sp>
      <p:sp>
        <p:nvSpPr>
          <p:cNvPr id="29" name="Text 20"/>
          <p:cNvSpPr/>
          <p:nvPr/>
        </p:nvSpPr>
        <p:spPr>
          <a:xfrm>
            <a:off x="7498080" y="34290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sentiment scoring on reviews + Gemma 4 via OpenRouter</a:t>
            </a:r>
            <a:endParaRPr lang="en-US" sz="1150" dirty="0"/>
          </a:p>
        </p:txBody>
      </p:sp>
      <p:sp>
        <p:nvSpPr>
          <p:cNvPr id="30" name="Shape 21"/>
          <p:cNvSpPr/>
          <p:nvPr/>
        </p:nvSpPr>
        <p:spPr>
          <a:xfrm>
            <a:off x="6400800" y="420624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629400" y="4389120"/>
            <a:ext cx="685800" cy="685800"/>
          </a:xfrm>
          <a:prstGeom prst="ellipse">
            <a:avLst/>
          </a:prstGeom>
          <a:solidFill>
            <a:srgbClr val="1F9D7C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8554" y="4478274"/>
            <a:ext cx="507492" cy="507492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498080" y="4343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450" dirty="0"/>
          </a:p>
        </p:txBody>
      </p:sp>
      <p:sp>
        <p:nvSpPr>
          <p:cNvPr id="34" name="Text 24"/>
          <p:cNvSpPr/>
          <p:nvPr/>
        </p:nvSpPr>
        <p:spPr>
          <a:xfrm>
            <a:off x="7498080" y="4709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5-page dashboard &amp; DAX measures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Data Cleaning (SQL)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source tables had real-world quality issues — each resolved with a dedicated T-SQL query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029968" cy="41148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013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DE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289304" y="2286000"/>
            <a:ext cx="731520" cy="73152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402" y="2381098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20040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customer + geography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4069080"/>
            <a:ext cx="1700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customer profiles with Country/City via LEFT JOIN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336" y="3639312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834640" y="1691640"/>
            <a:ext cx="2029968" cy="41148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2971800" y="18013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DE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3483864" y="2286000"/>
            <a:ext cx="731520" cy="731520"/>
          </a:xfrm>
          <a:prstGeom prst="ellipse">
            <a:avLst/>
          </a:prstGeom>
          <a:solidFill>
            <a:srgbClr val="1F9D7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962" y="2381098"/>
            <a:ext cx="541325" cy="54132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71800" y="320040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Categorize products by price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2999232" y="4069080"/>
            <a:ext cx="1700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statement buckets products into Low / Medium / High tiers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896" y="3639312"/>
            <a:ext cx="201168" cy="20116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29200" y="1691640"/>
            <a:ext cx="2029968" cy="41148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5166360" y="18013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DE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Shape 14"/>
          <p:cNvSpPr/>
          <p:nvPr/>
        </p:nvSpPr>
        <p:spPr>
          <a:xfrm>
            <a:off x="5678424" y="2286000"/>
            <a:ext cx="731520" cy="73152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3522" y="2381098"/>
            <a:ext cx="541325" cy="5413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166360" y="320040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review text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5193792" y="4069080"/>
            <a:ext cx="1700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inconsistent double-spacing from free-text reviews</a:t>
            </a:r>
            <a:endParaRPr lang="en-US" sz="10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456" y="3639312"/>
            <a:ext cx="201168" cy="20116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223760" y="1691640"/>
            <a:ext cx="2029968" cy="41148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26" name="Text 18"/>
          <p:cNvSpPr/>
          <p:nvPr/>
        </p:nvSpPr>
        <p:spPr>
          <a:xfrm>
            <a:off x="7360920" y="18013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DE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7" name="Shape 19"/>
          <p:cNvSpPr/>
          <p:nvPr/>
        </p:nvSpPr>
        <p:spPr>
          <a:xfrm>
            <a:off x="7872984" y="2286000"/>
            <a:ext cx="731520" cy="731520"/>
          </a:xfrm>
          <a:prstGeom prst="ellipse">
            <a:avLst/>
          </a:prstGeom>
          <a:solidFill>
            <a:srgbClr val="1F9D7C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8082" y="2381098"/>
            <a:ext cx="541325" cy="54132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360920" y="320040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Standardize engagement data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7388352" y="4069080"/>
            <a:ext cx="1700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labels, split combined Views-Clicks field, filtered Newsletter rows</a:t>
            </a:r>
            <a:endParaRPr lang="en-US" sz="10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72016" y="3639312"/>
            <a:ext cx="201168" cy="201168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9418320" y="1691640"/>
            <a:ext cx="2029968" cy="411480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33" name="Text 23"/>
          <p:cNvSpPr/>
          <p:nvPr/>
        </p:nvSpPr>
        <p:spPr>
          <a:xfrm>
            <a:off x="9555480" y="18013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7DEE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34" name="Shape 24"/>
          <p:cNvSpPr/>
          <p:nvPr/>
        </p:nvSpPr>
        <p:spPr>
          <a:xfrm>
            <a:off x="10067544" y="2286000"/>
            <a:ext cx="731520" cy="73152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62642" y="2381098"/>
            <a:ext cx="541325" cy="541325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555480" y="3200400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De-duplicate customer journey</a:t>
            </a:r>
            <a:endParaRPr lang="en-US" sz="1300" dirty="0"/>
          </a:p>
        </p:txBody>
      </p:sp>
      <p:sp>
        <p:nvSpPr>
          <p:cNvPr id="37" name="Text 26"/>
          <p:cNvSpPr/>
          <p:nvPr/>
        </p:nvSpPr>
        <p:spPr>
          <a:xfrm>
            <a:off x="9582912" y="4069080"/>
            <a:ext cx="170078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ROW_NUMBER() + PARTITION BY removed duplicates; AVG() OVER imputed missing durations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— Sentiment Analysis (Python)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reviews were scored and categorized using NLTK's VADER, combined with star ratings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14600" cy="3657600"/>
          </a:xfrm>
          <a:prstGeom prst="roundRect">
            <a:avLst>
              <a:gd name="adj" fmla="val 2909"/>
            </a:avLst>
          </a:prstGeom>
          <a:solidFill>
            <a:srgbClr val="132A4F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2148840"/>
            <a:ext cx="777240" cy="77724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9801" y="2249881"/>
            <a:ext cx="575158" cy="575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108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Pull Reviews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+ pyodbc pull cleaned reviews from SQL Server into pandas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3824" y="3547872"/>
            <a:ext cx="201168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83280" y="1828800"/>
            <a:ext cx="2514600" cy="3657600"/>
          </a:xfrm>
          <a:prstGeom prst="roundRect">
            <a:avLst>
              <a:gd name="adj" fmla="val 2909"/>
            </a:avLst>
          </a:prstGeom>
          <a:solidFill>
            <a:srgbClr val="132A4F"/>
          </a:solidFill>
          <a:ln/>
        </p:spPr>
      </p:sp>
      <p:sp>
        <p:nvSpPr>
          <p:cNvPr id="11" name="Shape 7"/>
          <p:cNvSpPr/>
          <p:nvPr/>
        </p:nvSpPr>
        <p:spPr>
          <a:xfrm>
            <a:off x="4251960" y="2148840"/>
            <a:ext cx="777240" cy="77724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001" y="2249881"/>
            <a:ext cx="575158" cy="57515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20440" y="3108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Sentiment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3566160" y="36118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VADER computes a compound SentimentScore from -1 (negative) to 1 (positive)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4" y="3547872"/>
            <a:ext cx="201168" cy="20116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26480" y="1828800"/>
            <a:ext cx="2514600" cy="3657600"/>
          </a:xfrm>
          <a:prstGeom prst="roundRect">
            <a:avLst>
              <a:gd name="adj" fmla="val 2909"/>
            </a:avLst>
          </a:prstGeom>
          <a:solidFill>
            <a:srgbClr val="132A4F"/>
          </a:solidFill>
          <a:ln/>
        </p:spPr>
      </p:sp>
      <p:sp>
        <p:nvSpPr>
          <p:cNvPr id="17" name="Shape 11"/>
          <p:cNvSpPr/>
          <p:nvPr/>
        </p:nvSpPr>
        <p:spPr>
          <a:xfrm>
            <a:off x="6995160" y="2148840"/>
            <a:ext cx="777240" cy="77724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6201" y="2249881"/>
            <a:ext cx="575158" cy="57515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63640" y="3108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Categorize</a:t>
            </a:r>
            <a:endParaRPr lang="en-US" sz="1450" dirty="0"/>
          </a:p>
        </p:txBody>
      </p:sp>
      <p:sp>
        <p:nvSpPr>
          <p:cNvPr id="20" name="Text 13"/>
          <p:cNvSpPr/>
          <p:nvPr/>
        </p:nvSpPr>
        <p:spPr>
          <a:xfrm>
            <a:off x="6309360" y="36118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star Rating combine into a SentimentCategory: Positive, Negative, Mixed Positive, Mixed Negative, Neutral</a:t>
            </a:r>
            <a:endParaRPr lang="en-US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0224" y="3547872"/>
            <a:ext cx="201168" cy="20116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869680" y="1828800"/>
            <a:ext cx="2514600" cy="3657600"/>
          </a:xfrm>
          <a:prstGeom prst="roundRect">
            <a:avLst>
              <a:gd name="adj" fmla="val 2909"/>
            </a:avLst>
          </a:prstGeom>
          <a:solidFill>
            <a:srgbClr val="132A4F"/>
          </a:solidFill>
          <a:ln/>
        </p:spPr>
      </p:sp>
      <p:sp>
        <p:nvSpPr>
          <p:cNvPr id="23" name="Shape 15"/>
          <p:cNvSpPr/>
          <p:nvPr/>
        </p:nvSpPr>
        <p:spPr>
          <a:xfrm>
            <a:off x="9738360" y="2148840"/>
            <a:ext cx="777240" cy="77724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39401" y="2249881"/>
            <a:ext cx="575158" cy="57515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006840" y="3108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Back</a:t>
            </a:r>
            <a:endParaRPr lang="en-US" sz="1450" dirty="0"/>
          </a:p>
        </p:txBody>
      </p:sp>
      <p:sp>
        <p:nvSpPr>
          <p:cNvPr id="26" name="Text 17"/>
          <p:cNvSpPr/>
          <p:nvPr/>
        </p:nvSpPr>
        <p:spPr>
          <a:xfrm>
            <a:off x="9052560" y="361188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data exported to CSV and written to a new SQL table for Power BI</a:t>
            </a:r>
            <a:endParaRPr lang="en-US" sz="1100" dirty="0"/>
          </a:p>
        </p:txBody>
      </p:sp>
      <p:sp>
        <p:nvSpPr>
          <p:cNvPr id="27" name="Text 18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algn="ctr" indent="0" marL="0">
              <a:buNone/>
            </a:pPr>
            <a:r>
              <a:rPr lang="en-US" sz="13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1,363 customer reviews scored, categorized, and ready for trend analysis in Power BI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 —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page summarizing conversion, social media, and customer review performance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344168"/>
            <a:ext cx="8010144" cy="4531394"/>
          </a:xfrm>
          <a:prstGeom prst="roundRect">
            <a:avLst>
              <a:gd name="adj" fmla="val 1211"/>
            </a:avLst>
          </a:prstGeom>
          <a:solidFill>
            <a:srgbClr val="0B1F3B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pic>
        <p:nvPicPr>
          <p:cNvPr id="5" name="Image 0" descr="assets/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7863840" cy="43850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32520" y="1463040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915400" y="1536192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9.57%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149840" y="1536192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732520" y="2450592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915400" y="2523744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9M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149840" y="2523744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732520" y="3438144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915400" y="3511296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2M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149840" y="3511296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732520" y="4425696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915400" y="4498848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414K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0149840" y="4498848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732520" y="5413248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915400" y="5486400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3.69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0149840" y="5486400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Rating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Conversion &amp; Social Media Details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85216" y="1133856"/>
            <a:ext cx="5458968" cy="3071480"/>
          </a:xfrm>
          <a:prstGeom prst="roundRect">
            <a:avLst>
              <a:gd name="adj" fmla="val 1786"/>
            </a:avLst>
          </a:prstGeom>
          <a:solidFill>
            <a:srgbClr val="0B1F3B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pic>
        <p:nvPicPr>
          <p:cNvPr id="4" name="Image 0" descr="assets/conver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5349240" cy="296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428763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funnel: View → Click → Drop-off → Purchase, by product and month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208776" y="1133856"/>
            <a:ext cx="5458968" cy="3072384"/>
          </a:xfrm>
          <a:prstGeom prst="roundRect">
            <a:avLst>
              <a:gd name="adj" fmla="val 1786"/>
            </a:avLst>
          </a:prstGeom>
          <a:solidFill>
            <a:srgbClr val="0B1F3B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pic>
        <p:nvPicPr>
          <p:cNvPr id="7" name="Image 1" descr="assets/soci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188720"/>
            <a:ext cx="5349240" cy="29626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3640" y="4288536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trends and content-type performance (Blog, Social Media, Video)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Customer Reviews Details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distribution with donut chart, monthly trends, and review detail table by sentiment category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344168"/>
            <a:ext cx="8010144" cy="4525488"/>
          </a:xfrm>
          <a:prstGeom prst="roundRect">
            <a:avLst>
              <a:gd name="adj" fmla="val 1212"/>
            </a:avLst>
          </a:prstGeom>
          <a:solidFill>
            <a:srgbClr val="0B1F3B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pic>
        <p:nvPicPr>
          <p:cNvPr id="5" name="Image 0" descr="assets/revie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7863840" cy="4379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32520" y="1463040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915400" y="1746504"/>
            <a:ext cx="274320" cy="274320"/>
          </a:xfrm>
          <a:prstGeom prst="ellipse">
            <a:avLst/>
          </a:prstGeom>
          <a:solidFill>
            <a:srgbClr val="1F9D7C"/>
          </a:solidFill>
          <a:ln/>
        </p:spPr>
      </p:sp>
      <p:sp>
        <p:nvSpPr>
          <p:cNvPr id="8" name="Text 5"/>
          <p:cNvSpPr/>
          <p:nvPr/>
        </p:nvSpPr>
        <p:spPr>
          <a:xfrm>
            <a:off x="9326880" y="1536192"/>
            <a:ext cx="1005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61.63%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287000" y="1536192"/>
            <a:ext cx="1143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732520" y="2450592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915400" y="2734056"/>
            <a:ext cx="274320" cy="274320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2" name="Text 9"/>
          <p:cNvSpPr/>
          <p:nvPr/>
        </p:nvSpPr>
        <p:spPr>
          <a:xfrm>
            <a:off x="9326880" y="2523744"/>
            <a:ext cx="1005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16.58%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0287000" y="2523744"/>
            <a:ext cx="1143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732520" y="3438144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915400" y="3721608"/>
            <a:ext cx="274320" cy="27432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16" name="Text 13"/>
          <p:cNvSpPr/>
          <p:nvPr/>
        </p:nvSpPr>
        <p:spPr>
          <a:xfrm>
            <a:off x="9326880" y="3511296"/>
            <a:ext cx="1005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14.38%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0287000" y="3511296"/>
            <a:ext cx="1143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Negative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732520" y="4425696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915400" y="4709160"/>
            <a:ext cx="274320" cy="27432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20" name="Text 17"/>
          <p:cNvSpPr/>
          <p:nvPr/>
        </p:nvSpPr>
        <p:spPr>
          <a:xfrm>
            <a:off x="9326880" y="4498848"/>
            <a:ext cx="1005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6.31%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10287000" y="4498848"/>
            <a:ext cx="1143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Positive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732520" y="5413248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915400" y="5696712"/>
            <a:ext cx="274320" cy="27432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24" name="Text 21"/>
          <p:cNvSpPr/>
          <p:nvPr/>
        </p:nvSpPr>
        <p:spPr>
          <a:xfrm>
            <a:off x="9326880" y="5486400"/>
            <a:ext cx="1005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1.10%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10287000" y="5486400"/>
            <a:ext cx="1143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691640"/>
            <a:ext cx="640080" cy="64008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3330" y="1774850"/>
            <a:ext cx="473659" cy="4736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16916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conversion swings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60120" y="246888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peaks in September (~12.2%) and dips mid-year — campaign timing matters.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137160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92240" y="1691640"/>
            <a:ext cx="640080" cy="640080"/>
          </a:xfrm>
          <a:prstGeom prst="ellipse">
            <a:avLst/>
          </a:prstGeom>
          <a:solidFill>
            <a:srgbClr val="1F9D7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5450" y="1774850"/>
            <a:ext cx="473659" cy="4736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16916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product winners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6492240" y="246888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Hockey Stick and Ski Boots convert best (~15%); Soccer Ball and Swim Goggles convert lowest (~6%).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402336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60120" y="4343400"/>
            <a:ext cx="640080" cy="64008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330" y="4426610"/>
            <a:ext cx="473659" cy="47365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83080" y="43434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is softening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960120" y="512064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trend downward across the year even as clicks/likes stay flat — an early content-fatigue signal.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172200" y="4023360"/>
            <a:ext cx="5166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492240" y="4343400"/>
            <a:ext cx="640080" cy="640080"/>
          </a:xfrm>
          <a:prstGeom prst="ellipse">
            <a:avLst/>
          </a:prstGeom>
          <a:solidFill>
            <a:srgbClr val="1F9D7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450" y="4426610"/>
            <a:ext cx="473659" cy="47365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15200" y="43434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Sentiment is mostly positive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6492240" y="5120640"/>
            <a:ext cx="4526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~62% of reviews are Positive, but a meaningful Mixed Negative share warrants per-product monitoring.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next steps for the ShopEasy Sports marketing team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32A4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39112"/>
            <a:ext cx="548640" cy="54864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" y="2110435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202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campaign timing around high-converting months like September; investigate what drove the mid-year dip.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9718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32A4F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3182112"/>
            <a:ext cx="548640" cy="54864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" y="3253435"/>
            <a:ext cx="405994" cy="4059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0632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content investment toward formats and products proven to drive engagement (e.g. video for top-converting products).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1148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32A4F"/>
          </a:solidFill>
          <a:ln/>
        </p:spPr>
      </p:sp>
      <p:sp>
        <p:nvSpPr>
          <p:cNvPr id="13" name="Shape 9"/>
          <p:cNvSpPr/>
          <p:nvPr/>
        </p:nvSpPr>
        <p:spPr>
          <a:xfrm>
            <a:off x="914400" y="4325112"/>
            <a:ext cx="548640" cy="54864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" y="4396435"/>
            <a:ext cx="405994" cy="4059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2062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alerts on Mixed Negative sentiment by product to catch quality or service issues before they spread.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52578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32A4F"/>
          </a:solidFill>
          <a:ln/>
        </p:spPr>
      </p:sp>
      <p:sp>
        <p:nvSpPr>
          <p:cNvPr id="17" name="Shape 12"/>
          <p:cNvSpPr/>
          <p:nvPr/>
        </p:nvSpPr>
        <p:spPr>
          <a:xfrm>
            <a:off x="914400" y="5468112"/>
            <a:ext cx="548640" cy="54864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723" y="5539435"/>
            <a:ext cx="405994" cy="40599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3492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declining-engagement content categories to counter the downward view trend identified in Social Media Details.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132A4F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389120"/>
            <a:ext cx="3657600" cy="3657600"/>
          </a:xfrm>
          <a:prstGeom prst="ellipse">
            <a:avLst/>
          </a:prstGeom>
          <a:solidFill>
            <a:srgbClr val="132A4F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1554480"/>
            <a:ext cx="822960" cy="82296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6265" y="166146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65176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1508760" y="3520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 — SQL scripts, Python sentiment pipeline, and the Power BI dashboard — available on GitHub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08760" y="4114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7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github.com/Amruthaashokan5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— AI-Generated Business Insights (NEW)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insights based on Python VADER sentiment analysis and Gemma 4 via OpenRouter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344168"/>
            <a:ext cx="8010144" cy="4525488"/>
          </a:xfrm>
          <a:prstGeom prst="roundRect">
            <a:avLst>
              <a:gd name="adj" fmla="val 1212"/>
            </a:avLst>
          </a:prstGeom>
          <a:solidFill>
            <a:srgbClr val="0B1F3B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pic>
        <p:nvPicPr>
          <p:cNvPr id="5" name="Image 0" descr="assets/revie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7863840" cy="4379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732520" y="1463040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915400" y="1746504"/>
            <a:ext cx="274320" cy="274320"/>
          </a:xfrm>
          <a:prstGeom prst="ellipse">
            <a:avLst/>
          </a:prstGeom>
          <a:solidFill>
            <a:srgbClr val="1F9D7C"/>
          </a:solidFill>
          <a:ln/>
        </p:spPr>
      </p:sp>
      <p:sp>
        <p:nvSpPr>
          <p:cNvPr id="8" name="Text 5"/>
          <p:cNvSpPr/>
          <p:nvPr/>
        </p:nvSpPr>
        <p:spPr>
          <a:xfrm>
            <a:off x="9326880" y="1536192"/>
            <a:ext cx="1005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1.363K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287000" y="1536192"/>
            <a:ext cx="1143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732520" y="2450592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915400" y="2734056"/>
            <a:ext cx="274320" cy="274320"/>
          </a:xfrm>
          <a:prstGeom prst="ellipse">
            <a:avLst/>
          </a:prstGeom>
          <a:solidFill>
            <a:srgbClr val="E8743B"/>
          </a:solidFill>
          <a:ln/>
        </p:spPr>
      </p:sp>
      <p:sp>
        <p:nvSpPr>
          <p:cNvPr id="12" name="Text 9"/>
          <p:cNvSpPr/>
          <p:nvPr/>
        </p:nvSpPr>
        <p:spPr>
          <a:xfrm>
            <a:off x="9326880" y="2523744"/>
            <a:ext cx="1005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3.69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0287000" y="2523744"/>
            <a:ext cx="1143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732520" y="3438144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915400" y="3721608"/>
            <a:ext cx="274320" cy="27432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16" name="Text 13"/>
          <p:cNvSpPr/>
          <p:nvPr/>
        </p:nvSpPr>
        <p:spPr>
          <a:xfrm>
            <a:off x="9326880" y="3511296"/>
            <a:ext cx="1005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0.19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0287000" y="3511296"/>
            <a:ext cx="1143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SentimentScore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732520" y="4425696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915400" y="4709160"/>
            <a:ext cx="274320" cy="27432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20" name="Text 17"/>
          <p:cNvSpPr/>
          <p:nvPr/>
        </p:nvSpPr>
        <p:spPr>
          <a:xfrm>
            <a:off x="9326880" y="4498848"/>
            <a:ext cx="1005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840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10287000" y="4498848"/>
            <a:ext cx="1143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Reviews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732520" y="5413248"/>
            <a:ext cx="27889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1B2A41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915400" y="5696712"/>
            <a:ext cx="274320" cy="27432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24" name="Text 21"/>
          <p:cNvSpPr/>
          <p:nvPr/>
        </p:nvSpPr>
        <p:spPr>
          <a:xfrm>
            <a:off x="9326880" y="5486400"/>
            <a:ext cx="1005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61.6%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10287000" y="5486400"/>
            <a:ext cx="1143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AI-Generated Business Insights — Detail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| Business Insights | Recommendations — powered by Gemma 4 via OpenRouter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32A4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39112"/>
            <a:ext cx="548640" cy="54864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" y="2110435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202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SUMMARY: Analysis of 1,363 reviews shows avg rating 3.69/5 and avg sentiment score 0.19. Positive reviews account for 840 entries (61.6%). Negative reviews constitute 16.6% (226 entries). Neutral reviews are 1.1% (15 entries).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9718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32A4F"/>
          </a:solidFill>
          <a:ln/>
        </p:spPr>
      </p:sp>
      <p:sp>
        <p:nvSpPr>
          <p:cNvPr id="9" name="Shape 6"/>
          <p:cNvSpPr/>
          <p:nvPr/>
        </p:nvSpPr>
        <p:spPr>
          <a:xfrm>
            <a:off x="914400" y="3182112"/>
            <a:ext cx="548640" cy="54864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723" y="3253435"/>
            <a:ext cx="405994" cy="4059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30632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1: Average sentiment score is 0.19 based on 1,363 total reviews.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1148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32A4F"/>
          </a:solidFill>
          <a:ln/>
        </p:spPr>
      </p:sp>
      <p:sp>
        <p:nvSpPr>
          <p:cNvPr id="13" name="Shape 9"/>
          <p:cNvSpPr/>
          <p:nvPr/>
        </p:nvSpPr>
        <p:spPr>
          <a:xfrm>
            <a:off x="914400" y="4325112"/>
            <a:ext cx="548640" cy="54864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23" y="4396435"/>
            <a:ext cx="405994" cy="4059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42062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 2: Positive reviews comprise the majority at 61.6% (840 reviews). Negative reviews represent 16.6% (226 reviews).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40080" y="52578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32A4F"/>
          </a:solidFill>
          <a:ln/>
        </p:spPr>
      </p:sp>
      <p:sp>
        <p:nvSpPr>
          <p:cNvPr id="17" name="Shape 12"/>
          <p:cNvSpPr/>
          <p:nvPr/>
        </p:nvSpPr>
        <p:spPr>
          <a:xfrm>
            <a:off x="914400" y="5468112"/>
            <a:ext cx="548640" cy="548640"/>
          </a:xfrm>
          <a:prstGeom prst="ellipse">
            <a:avLst/>
          </a:prstGeom>
          <a:solidFill>
            <a:srgbClr val="E8743B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723" y="5539435"/>
            <a:ext cx="405994" cy="40599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91640" y="53492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2E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RECOMMENDATIONS: Review 226 negative reviews for improvement areas. Monitor 3.69 avg rating and 0.19 sentiment score. Analyze 840 positive reviews to identify success drivers.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Retail Marketing Analytics — Business Case</dc:title>
  <dc:subject>PptxGenJS Presentation</dc:subject>
  <dc:creator>Data Analyst</dc:creator>
  <cp:lastModifiedBy>Data Analyst</cp:lastModifiedBy>
  <cp:revision>1</cp:revision>
  <dcterms:created xsi:type="dcterms:W3CDTF">2026-06-19T11:05:30Z</dcterms:created>
  <dcterms:modified xsi:type="dcterms:W3CDTF">2026-06-19T11:05:30Z</dcterms:modified>
</cp:coreProperties>
</file>